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fe574bb6aa4dfb" /><Relationship Type="http://schemas.openxmlformats.org/officeDocument/2006/relationships/extended-properties" Target="/docProps/app.xml" Id="Re5e4d6450c4d4c7c" /><Relationship Type="http://schemas.openxmlformats.org/officeDocument/2006/relationships/officeDocument" Target="/ppt/presentation.xml" Id="R210d9a1a88a94c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392ed8c0f04ab7"/>
  </p:sldMasterIdLst>
  <p:notesMasterIdLst>
    <p:notesMasterId xmlns:r="http://schemas.openxmlformats.org/officeDocument/2006/relationships" r:id="R0b46c8ba0e5e42f5"/>
  </p:notesMasterIdLst>
  <p:sldIdLst>
    <p:sldId xmlns:r="http://schemas.openxmlformats.org/officeDocument/2006/relationships" id="256" r:id="R1b30a620ec5d47c6"/>
    <p:sldId xmlns:r="http://schemas.openxmlformats.org/officeDocument/2006/relationships" id="257" r:id="R87bee3d0c0b04f61"/>
    <p:sldId xmlns:r="http://schemas.openxmlformats.org/officeDocument/2006/relationships" id="258" r:id="Raf5dae8681664430"/>
    <p:sldId xmlns:r="http://schemas.openxmlformats.org/officeDocument/2006/relationships" id="259" r:id="Rf8d526f328a44d97"/>
    <p:sldId xmlns:r="http://schemas.openxmlformats.org/officeDocument/2006/relationships" id="260" r:id="Rb538d3da613c4dda"/>
    <p:sldId xmlns:r="http://schemas.openxmlformats.org/officeDocument/2006/relationships" id="261" r:id="R885eb5084d044cba"/>
    <p:sldId xmlns:r="http://schemas.openxmlformats.org/officeDocument/2006/relationships" id="262" r:id="Rddff145a495a432c"/>
    <p:sldId xmlns:r="http://schemas.openxmlformats.org/officeDocument/2006/relationships" id="263" r:id="Rc403e28ec2994bf2"/>
    <p:sldId xmlns:r="http://schemas.openxmlformats.org/officeDocument/2006/relationships" id="264" r:id="R57cbf28461c2493c"/>
    <p:sldId xmlns:r="http://schemas.openxmlformats.org/officeDocument/2006/relationships" id="265" r:id="Rdfbfa37547d241d4"/>
    <p:sldId xmlns:r="http://schemas.openxmlformats.org/officeDocument/2006/relationships" id="266" r:id="R2b9437be57454dda"/>
    <p:sldId xmlns:r="http://schemas.openxmlformats.org/officeDocument/2006/relationships" id="267" r:id="Re796c6dc6ba344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922b4123734409" /><Relationship Type="http://schemas.openxmlformats.org/officeDocument/2006/relationships/slideMaster" Target="/ppt/slideMasters/slideMaster1.xml" Id="R46392ed8c0f04ab7" /><Relationship Type="http://schemas.openxmlformats.org/officeDocument/2006/relationships/notesMaster" Target="/ppt/notesMasters/notesMaster1.xml" Id="R0b46c8ba0e5e42f5" /><Relationship Type="http://schemas.openxmlformats.org/officeDocument/2006/relationships/presProps" Target="/ppt/presProps.xml" Id="R47dbe8bc27234d38" /><Relationship Type="http://schemas.openxmlformats.org/officeDocument/2006/relationships/tableStyles" Target="/ppt/tableStyles.xml" Id="R20ffddd95f42473e" /><Relationship Type="http://schemas.openxmlformats.org/officeDocument/2006/relationships/slide" Target="/ppt/slides/slide1.xml" Id="R1b30a620ec5d47c6" /><Relationship Type="http://schemas.openxmlformats.org/officeDocument/2006/relationships/slide" Target="/ppt/slides/slide2.xml" Id="R87bee3d0c0b04f61" /><Relationship Type="http://schemas.openxmlformats.org/officeDocument/2006/relationships/slide" Target="/ppt/slides/slide3.xml" Id="Raf5dae8681664430" /><Relationship Type="http://schemas.openxmlformats.org/officeDocument/2006/relationships/slide" Target="/ppt/slides/slide4.xml" Id="Rf8d526f328a44d97" /><Relationship Type="http://schemas.openxmlformats.org/officeDocument/2006/relationships/slide" Target="/ppt/slides/slide5.xml" Id="Rb538d3da613c4dda" /><Relationship Type="http://schemas.openxmlformats.org/officeDocument/2006/relationships/slide" Target="/ppt/slides/slide6.xml" Id="R885eb5084d044cba" /><Relationship Type="http://schemas.openxmlformats.org/officeDocument/2006/relationships/slide" Target="/ppt/slides/slide7.xml" Id="Rddff145a495a432c" /><Relationship Type="http://schemas.openxmlformats.org/officeDocument/2006/relationships/slide" Target="/ppt/slides/slide8.xml" Id="Rc403e28ec2994bf2" /><Relationship Type="http://schemas.openxmlformats.org/officeDocument/2006/relationships/slide" Target="/ppt/slides/slide9.xml" Id="R57cbf28461c2493c" /><Relationship Type="http://schemas.openxmlformats.org/officeDocument/2006/relationships/slide" Target="/ppt/slides/slide10.xml" Id="Rdfbfa37547d241d4" /><Relationship Type="http://schemas.openxmlformats.org/officeDocument/2006/relationships/slide" Target="/ppt/slides/slide11.xml" Id="R2b9437be57454dda" /><Relationship Type="http://schemas.openxmlformats.org/officeDocument/2006/relationships/slide" Target="/ppt/slides/slide12.xml" Id="Re796c6dc6ba344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a1ec23ad8943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cc910b298b4773" /><Relationship Type="http://schemas.openxmlformats.org/officeDocument/2006/relationships/notesMaster" Target="/ppt/notesMasters/notesMaster1.xml" Id="Ra03c24a5e12c43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6b3692f123435c" /><Relationship Type="http://schemas.openxmlformats.org/officeDocument/2006/relationships/notesMaster" Target="/ppt/notesMasters/notesMaster1.xml" Id="Rf8989791d1e547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03165a753a43f7" /><Relationship Type="http://schemas.openxmlformats.org/officeDocument/2006/relationships/notesMaster" Target="/ppt/notesMasters/notesMaster1.xml" Id="R1ca2ef4a30084f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5d0195a1e040ff" /><Relationship Type="http://schemas.openxmlformats.org/officeDocument/2006/relationships/notesMaster" Target="/ppt/notesMasters/notesMaster1.xml" Id="R525aa20a14364a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3129ecc93f4586" /><Relationship Type="http://schemas.openxmlformats.org/officeDocument/2006/relationships/notesMaster" Target="/ppt/notesMasters/notesMaster1.xml" Id="R8897b20740fd44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0a22a3f9754e3e" /><Relationship Type="http://schemas.openxmlformats.org/officeDocument/2006/relationships/notesMaster" Target="/ppt/notesMasters/notesMaster1.xml" Id="R47038c69de824e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98f85899b948cf" /><Relationship Type="http://schemas.openxmlformats.org/officeDocument/2006/relationships/notesMaster" Target="/ppt/notesMasters/notesMaster1.xml" Id="R93bd382fb52541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a889eb68c847b8" /><Relationship Type="http://schemas.openxmlformats.org/officeDocument/2006/relationships/notesMaster" Target="/ppt/notesMasters/notesMaster1.xml" Id="R8b5f232930f84d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a069a81a3f454b" /><Relationship Type="http://schemas.openxmlformats.org/officeDocument/2006/relationships/notesMaster" Target="/ppt/notesMasters/notesMaster1.xml" Id="R3cbd1b3ffe374b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9644821f9049df" /><Relationship Type="http://schemas.openxmlformats.org/officeDocument/2006/relationships/notesMaster" Target="/ppt/notesMasters/notesMaster1.xml" Id="R86760c0d2d8646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c9ab1253da4581" /><Relationship Type="http://schemas.openxmlformats.org/officeDocument/2006/relationships/notesMaster" Target="/ppt/notesMasters/notesMaster1.xml" Id="R1834b2e2f82a44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3e12d0e75f493a" /><Relationship Type="http://schemas.openxmlformats.org/officeDocument/2006/relationships/notesMaster" Target="/ppt/notesMasters/notesMaster1.xml" Id="R1ca91ed544ad42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structural claim: although a wallet may begin with many partially authorized ranks, an equally good wallet can always be made canonical. The proof is constructive and repeatedly edits only the two extreme incomplete layers.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p. 1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key independently occupies one of four states. A wallet is monotone: once a key set is authorized, every superset is authorized. Success means the owner is authorized while the attacker is not. The target structural notion is an incomplete rank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p. 1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theorem in its operational form. The proof has two levels: prove that one of three local edits never lowers success, then iterate because every chosen edit strictly reduces the number of incomplete layers.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pp. 1 and 9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Upward closure converts the global geometry of the wallet into a simple rank picture. Everything below the first incomplete layer is empty, and everything above the last incomplete layer is full. This is why the proof can act only at r and q.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pp. 1-2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Removing the lowest nonempty layer cannot break upward closure, and filling the highest non-full layer cannot break it either. A and B are nonempty proper fractions of their ranks, so alpha and beta lie strictly between zero and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pp. 1-2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Exchangeability makes O uniform within a fixed owner rank and D uniform within a fixed attacker rank. This converts gains and losses from a whole rank into the one-dimensional kernel g_k(m). Its discrete derivative is always nonpositive.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p. 2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easy sign cases immediately choose remove or fill. In the remaining sign pattern, monotonicity and the binomial ratio imply g_r(q) &gt;= g_q(r) &gt; 0 and g_q(r+1) &lt;= g_r(q+1) &lt; 0. If the first joint bound fails, it forces alpha &lt; beta, which makes the second joint bound positive.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p. 3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condition s &gt; 1/2 supplies a nonnegative slack variable eta. Expanding after substitution produces a homogeneous polynomial in nonnegative variables. For a fixed labelled partition, a toggle assignment chooses one of two allowed states in T, E, and L, while H is always safe. Proving every coefficient nonnegative proves the certificate.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p. 4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Average the signed event count Lambda(A,B) over nested r- and q-sets. Fix the difference M = B minus A and sum over A disjoint from M. The first three types are immediate. Only the pure T-plus-L and T-plus-E types need additional injections.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p. 5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each residual case, the counting identities guarantee enough room to move K upward in a fixed symmetric-chain decomposition. The canonical prefix makes s recoverable, and the chain map is injective; images from different (j,s) are disjoint. Hence every fixed-M contribution is nonnegative.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pp. 6-8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dual wallet authorizes a set exactly when the complement was unauthorized before. Complementing and swapping owner and attacker preserves the success event. The extreme ranks transform to n-q and n-r, whose sum is below n, so the low-sum lemma applies and maps back to a non-worsening edit of 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p. 9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a non-worsening edit whenever two incomplete layers remain. The number of incomplete layers decreases at every step, so the process terminates. Starting from an optimal wallet, every non-worsening step must preserve the optimal value, proving the canonical optimum exists.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C:/Users/yehud/Documents/Retry-Simul/output/pdf/COMPLETE_PROOF_INCOMPLETE_LAYERS.pdf, p. 9 (user-provided proof).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b2591470740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6de1159f774e28" /><Relationship Type="http://schemas.openxmlformats.org/officeDocument/2006/relationships/slideLayout" Target="/ppt/slideLayouts/slideLayout1.xml" Id="R153f104908474b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3f104908474b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b1933b8cf4c48" /><Relationship Type="http://schemas.openxmlformats.org/officeDocument/2006/relationships/notesSlide" Target="/ppt/notesSlides/notesSlide1.xml" Id="R61dd3308612149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79a347db24e03" /><Relationship Type="http://schemas.openxmlformats.org/officeDocument/2006/relationships/notesSlide" Target="/ppt/notesSlides/notesSlide2.xml" Id="Re1750c5600174e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a166b9b6648dc" /><Relationship Type="http://schemas.openxmlformats.org/officeDocument/2006/relationships/notesSlide" Target="/ppt/notesSlides/notesSlide3.xml" Id="R66b4cbae0de44f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e540be4cd4960" /><Relationship Type="http://schemas.openxmlformats.org/officeDocument/2006/relationships/notesSlide" Target="/ppt/notesSlides/notesSlide4.xml" Id="R4f496a69cb5644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4ab583134477a" /><Relationship Type="http://schemas.openxmlformats.org/officeDocument/2006/relationships/notesSlide" Target="/ppt/notesSlides/notesSlide5.xml" Id="R689fc5882f7849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9a5eab80348e9" /><Relationship Type="http://schemas.openxmlformats.org/officeDocument/2006/relationships/image" Target="/ppt/media/image.png" Id="R279deb1f30624adf" /><Relationship Type="http://schemas.openxmlformats.org/officeDocument/2006/relationships/image" Target="/ppt/media/image2.png" Id="R995cfc0877304db3" /><Relationship Type="http://schemas.openxmlformats.org/officeDocument/2006/relationships/image" Target="/ppt/media/image3.png" Id="Rba2e8f6efc834f7d" /><Relationship Type="http://schemas.openxmlformats.org/officeDocument/2006/relationships/notesSlide" Target="/ppt/notesSlides/notesSlide6.xml" Id="Re3a245e938484a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7a950268440e4" /><Relationship Type="http://schemas.openxmlformats.org/officeDocument/2006/relationships/image" Target="/ppt/media/image4.png" Id="R4b85247ba8d14cd7" /><Relationship Type="http://schemas.openxmlformats.org/officeDocument/2006/relationships/notesSlide" Target="/ppt/notesSlides/notesSlide7.xml" Id="R4124627f8d884e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3ae74562d4863" /><Relationship Type="http://schemas.openxmlformats.org/officeDocument/2006/relationships/image" Target="/ppt/media/image5.png" Id="R229bb5d9848e4fd1" /><Relationship Type="http://schemas.openxmlformats.org/officeDocument/2006/relationships/image" Target="/ppt/media/image6.png" Id="Rbdc92be291ba4822" /><Relationship Type="http://schemas.openxmlformats.org/officeDocument/2006/relationships/image" Target="/ppt/media/image7.png" Id="R784628b406cd4069" /><Relationship Type="http://schemas.openxmlformats.org/officeDocument/2006/relationships/notesSlide" Target="/ppt/notesSlides/notesSlide8.xml" Id="R1b5bc7ef30e849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50b3765ed48e8" /><Relationship Type="http://schemas.openxmlformats.org/officeDocument/2006/relationships/notesSlide" Target="/ppt/notesSlides/notesSlide9.xml" Id="Rbfc80189ae7247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b387b2ef94bdc" /><Relationship Type="http://schemas.openxmlformats.org/officeDocument/2006/relationships/notesSlide" Target="/ppt/notesSlides/notesSlide10.xml" Id="Rd9cbbfbfc00a43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acfb1c5364ce8" /><Relationship Type="http://schemas.openxmlformats.org/officeDocument/2006/relationships/image" Target="/ppt/media/image8.png" Id="R257d76b310a74437" /><Relationship Type="http://schemas.openxmlformats.org/officeDocument/2006/relationships/image" Target="/ppt/media/image9.png" Id="R128a0efce5214ee3" /><Relationship Type="http://schemas.openxmlformats.org/officeDocument/2006/relationships/image" Target="/ppt/media/image10.png" Id="Rab4d5d600ce04e0b" /><Relationship Type="http://schemas.openxmlformats.org/officeDocument/2006/relationships/image" Target="/ppt/media/image11.png" Id="R5350166207e046e5" /><Relationship Type="http://schemas.openxmlformats.org/officeDocument/2006/relationships/image" Target="/ppt/media/image12.png" Id="R92053fd14a744eb0" /><Relationship Type="http://schemas.openxmlformats.org/officeDocument/2006/relationships/image" Target="/ppt/media/image13.png" Id="Rc1329ca9600f4bb5" /><Relationship Type="http://schemas.openxmlformats.org/officeDocument/2006/relationships/notesSlide" Target="/ppt/notesSlides/notesSlide11.xml" Id="Rae1a5b86909448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c30d202ca47c9" /><Relationship Type="http://schemas.openxmlformats.org/officeDocument/2006/relationships/notesSlide" Target="/ppt/notesSlides/notesSlide12.xml" Id="R0eceb9b1b9be49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4B63A6BC-43EB-423A-A40F-80B96440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 most one
incomplete layer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DA963EE-A4D3-4AC1-886A-AF83DEB9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Proof by batch edits, kernel certificates, and duality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C8AC8932-3A74-4C8A-924B-0AC4DFC9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PROBABILISTIC WALLETS</a:t>
            </a:r>
          </a:p>
        </p:txBody>
      </p:sp>
    </p:spTree>
    <p:extLst>
      <p:ext uri="{BB962C8B-B14F-4D97-AF65-F5344CB8AC3E}">
        <p14:creationId xmlns:p14="http://schemas.microsoft.com/office/powerpoint/2010/main" val="1244418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E3774C2-5852-49D7-A026-0287AD54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DCFD2ED-6CFC-4AAA-95E7-DB43E9A8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model separates ownership from compromise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1C317FED-BAF9-4819-B5C7-EBB0BC74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6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Wallet 𝓕</a:t>
            </a:r>
          </a:p>
          <a:p xmlns:a="http://schemas.openxmlformats.org/drawingml/2006/main">
            <a:pPr algn="l"/>
            <a:r>
              <a:rPr sz="1150" b="0" i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An upward-closed family of key sets.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BB3ED28D-0313-4EF2-8AB0-28FBB506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6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Success</a:t>
            </a:r>
          </a:p>
          <a:p xmlns:a="http://schemas.openxmlformats.org/drawingml/2006/main">
            <a:pPr algn="l"/>
            <a:r>
              <a:rPr sz="1150" b="0" i="0">
                <a:solidFill>
                  <a:srgbClr val="596273"/>
                </a:solidFill>
                <a:latin typeface="Cambria Math"/>
                <a:ea typeface="Cambria Math"/>
                <a:cs typeface="Cambria Math"/>
              </a:rPr>
              <a:t>O ∈ 𝓕 and D ∉ 𝓕.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F08197FD-53BB-409D-AF04-6D1652BF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6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Layer 𝓕ₖ</a:t>
            </a:r>
          </a:p>
          <a:p xmlns:a="http://schemas.openxmlformats.org/drawingml/2006/main">
            <a:pPr algn="l"/>
            <a:r>
              <a:rPr sz="1150" b="0" i="0">
                <a:solidFill>
                  <a:srgbClr val="596273"/>
                </a:solidFill>
                <a:latin typeface="Cambria Math"/>
                <a:ea typeface="Cambria Math"/>
                <a:cs typeface="Cambria Math"/>
              </a:rPr>
              <a:t>Authorized sets of rank k.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8CF43DCE-3F7B-47AD-8DC3-A582FC9E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6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Incomplete</a:t>
            </a:r>
          </a:p>
          <a:p xmlns:a="http://schemas.openxmlformats.org/drawingml/2006/main">
            <a:pPr algn="l"/>
            <a:r>
              <a:rPr sz="1100" b="0" i="0">
                <a:solidFill>
                  <a:srgbClr val="596273"/>
                </a:solidFill>
                <a:latin typeface="Cambria Math"/>
                <a:ea typeface="Cambria Math"/>
                <a:cs typeface="Cambria Math"/>
              </a:rPr>
              <a:t>0 &lt; |𝓕ₖ| &lt; C(n,k)
with s &gt; ½.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A3ACCAB-8D62-401E-A4CA-9E6EB9BD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Safe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Owner: yes
Attacker: no
Probability s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E3009537-1FE7-4759-A5AF-4C562F93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Stolen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Owner: no
Attacker: yes
Probability t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821C7EF3-5137-4891-A54B-386A9051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Leaked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Owner: yes
Attacker: yes
Probability e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15B3B219-B2C4-419F-A23B-483BCD3E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Lost</a:t>
            </a:r>
          </a:p>
          <a:p xmlns:a="http://schemas.openxmlformats.org/drawingml/2006/main">
            <a:pPr algn="l"/>
            <a:r>
              <a:rPr sz="1450" b="0" i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Owner: no
Attacker: no
Probability ℓ</a:t>
            </a:r>
          </a:p>
        </p:txBody>
      </p:sp>
    </p:spTree>
    <p:extLst>
      <p:ext uri="{BB962C8B-B14F-4D97-AF65-F5344CB8AC3E}">
        <p14:creationId xmlns:p14="http://schemas.microsoft.com/office/powerpoint/2010/main" val="418396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D51ED51-59AA-46EA-A41F-AE482320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A9A4B99-FC66-4A55-ADA9-C756D236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wallet can reach one incomplete layer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7C8725D6-D5EC-4AB6-86E8-42BD2EAE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72EFAA6-00EA-4CCB-85AB-B7C05837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step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D72D0124-BA1A-4FB2-94A8-D29B757C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Remove rank r, fill rank q, or do both.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At least one edit is non-worsening.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Low sum: kernel certificate.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7755D89F-1D9C-4C8F-B64E-FF41F45D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5C9CF88-297F-4977-8988-ABB282C4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Global finish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C6A36B7-B346-4357-984D-3E5A883C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Each edit eliminates an incomplete layer.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No new incomplete layer appears.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High sum: reduce by duality.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A23C8EC2-92AA-4302-B335-DACCD758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6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Theorem</a:t>
            </a:r>
          </a:p>
          <a:p xmlns:a="http://schemas.openxmlformats.org/drawingml/2006/main">
            <a:pPr algn="l"/>
            <a:r>
              <a:rPr sz="1300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For every upward-closed wallet 𝓕, there exists 𝓕⋆ such that</a:t>
            </a:r>
          </a:p>
          <a:p xmlns:a="http://schemas.openxmlformats.org/drawingml/2006/main">
            <a:pPr algn="l"/>
            <a:r>
              <a:rPr sz="1800" b="0" i="0">
                <a:solidFill>
                  <a:srgbClr val="0B1F33"/>
                </a:solidFill>
                <a:latin typeface="Cambria Math"/>
                <a:ea typeface="Cambria Math"/>
                <a:cs typeface="Cambria Math"/>
              </a:rPr>
              <a:t>Φₛ,ₜ,ₑ,ℓ(𝓕⋆) ≥ Φₛ,ₜ,ₑ,ℓ(𝓕)</a:t>
            </a:r>
          </a:p>
          <a:p xmlns:a="http://schemas.openxmlformats.org/drawingml/2006/main">
            <a:pPr algn="l"/>
            <a:r>
              <a:rPr sz="1300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and 𝓕⋆ has at most one incomplete layer.</a:t>
            </a:r>
          </a:p>
          <a:p xmlns:a="http://schemas.openxmlformats.org/drawingml/2006/main">
            <a:pPr algn="l"/>
            <a:r>
              <a:rPr sz="1150" b="0" i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Choose the lowest and highest incomplete ranks r &lt; q.</a:t>
            </a:r>
          </a:p>
        </p:txBody>
      </p:sp>
    </p:spTree>
    <p:extLst>
      <p:ext uri="{BB962C8B-B14F-4D97-AF65-F5344CB8AC3E}">
        <p14:creationId xmlns:p14="http://schemas.microsoft.com/office/powerpoint/2010/main" val="4848467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2F886F6-D7B2-4933-ABF5-4F9D2194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B9D5CE3-4C96-4D96-B395-B27D00DA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Only the extreme incomplete layers need to move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3373755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C954841-E156-4395-9933-9D6F7D66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D3081FB-11EB-4BA5-A893-65342E6D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1675D8E-22D1-4456-96F0-65ABD8F9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35BD81C-BB67-49AB-92B4-85D52259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Ranks &lt; 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1A2FA6FC-849E-48DA-AF86-1FCFBA66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 through q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2369914-9D64-47BB-9035-5DD78207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Ranks &gt; q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D5D1E8B7-B584-4CB5-A6E2-804DEEF4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Boundary region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Layer r is the first partial layer; q is the last.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57EEF5F7-5983-4ED2-946B-4FDC3F3D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Empty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By minimality of r, every lower layer is empty.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1840E7D4-5155-4251-A5D8-0D000655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Full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By maximality of q, every higher layer is full.</a:t>
            </a:r>
          </a:p>
        </p:txBody>
      </p:sp>
    </p:spTree>
    <p:extLst>
      <p:ext uri="{BB962C8B-B14F-4D97-AF65-F5344CB8AC3E}">
        <p14:creationId xmlns:p14="http://schemas.microsoft.com/office/powerpoint/2010/main" val="11202011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3C0EBF8-643D-4ABF-A488-F1863A55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F9F5F6E-9FC1-4ED2-9797-D22E0DE0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batch edits act on 𝒜 = 𝓕ᵣ and the missing q-sets 𝓑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C4351BAE-D44E-4AE3-9399-8C956EE6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Remove</a:t>
            </a:r>
          </a:p>
          <a:p xmlns:a="http://schemas.openxmlformats.org/drawingml/2006/main">
            <a:pPr algn="l"/>
            <a:r>
              <a:rPr sz="1300" b="0" i="0">
                <a:solidFill>
                  <a:srgbClr val="596273"/>
                </a:solidFill>
                <a:latin typeface="Cambria Math"/>
                <a:ea typeface="Cambria Math"/>
                <a:cs typeface="Cambria Math"/>
              </a:rPr>
              <a:t>𝓕 ← 𝓕 ∖ 𝒜
Empties layer r.
α = |𝒜| / C(n,r)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6E3F97D2-62C9-4BD8-B9A9-FE35115F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Joint</a:t>
            </a:r>
          </a:p>
          <a:p xmlns:a="http://schemas.openxmlformats.org/drawingml/2006/main">
            <a:pPr algn="l"/>
            <a:r>
              <a:rPr sz="1300" b="0" i="0">
                <a:solidFill>
                  <a:srgbClr val="596273"/>
                </a:solidFill>
                <a:latin typeface="Cambria Math"/>
                <a:ea typeface="Cambria Math"/>
                <a:cs typeface="Cambria Math"/>
              </a:rPr>
              <a:t>𝓕 ← (𝓕 ∖ 𝒜) ∪ 𝓑
Performs both boundary edits.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C4156A19-D0E8-4E0A-B89B-E99D18D9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Fill</a:t>
            </a:r>
          </a:p>
          <a:p xmlns:a="http://schemas.openxmlformats.org/drawingml/2006/main">
            <a:pPr algn="l"/>
            <a:r>
              <a:rPr sz="1300" b="0" i="0">
                <a:solidFill>
                  <a:srgbClr val="596273"/>
                </a:solidFill>
                <a:latin typeface="Cambria Math"/>
                <a:ea typeface="Cambria Math"/>
                <a:cs typeface="Cambria Math"/>
              </a:rPr>
              <a:t>𝓕 ← 𝓕 ∪ 𝓑
Fills layer q.
β = |𝓑| / C(n,q)</a:t>
            </a:r>
          </a:p>
        </p:txBody>
      </p:sp>
    </p:spTree>
    <p:extLst>
      <p:ext uri="{BB962C8B-B14F-4D97-AF65-F5344CB8AC3E}">
        <p14:creationId xmlns:p14="http://schemas.microsoft.com/office/powerpoint/2010/main" val="4023509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A17C2E5D-7627-4AF1-9825-BCE85979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8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Kernel</a:t>
            </a:r>
          </a:p>
          <a:p xmlns:a="http://schemas.openxmlformats.org/drawingml/2006/main">
            <a:pPr algn="l"/>
            <a:r>
              <a:rPr sz="1300" b="0" i="0">
                <a:solidFill>
                  <a:srgbClr val="0B1F33"/>
                </a:solidFill>
                <a:latin typeface="Cambria Math"/>
                <a:ea typeface="Cambria Math"/>
                <a:cs typeface="Cambria Math"/>
              </a:rPr>
              <a:t>I = |O|,   J = |D|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C861A95E-F2CC-41F1-B8C8-6C0249F1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1782619C-6EDF-4056-9754-3F7D7B5E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decreasing rank kernel controls every edit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05DDAAF5-F213-43BC-A8A6-949747FD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8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Batch bounds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deb1f30624adf"/>
          <a:stretch xmlns:a="http://schemas.openxmlformats.org/drawingml/2006/main"/>
        </p:blipFill>
        <p:spPr>
          <a:xfrm xmlns:a="http://schemas.openxmlformats.org/drawingml/2006/main">
            <a:off x="523875" y="2721851"/>
            <a:ext cx="5238750" cy="404648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cfc0877304db3"/>
          <a:stretch xmlns:a="http://schemas.openxmlformats.org/drawingml/2006/main"/>
        </p:blipFill>
        <p:spPr>
          <a:xfrm xmlns:a="http://schemas.openxmlformats.org/drawingml/2006/main">
            <a:off x="523875" y="3482975"/>
            <a:ext cx="5238750" cy="349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84B31-DC19-4DBC-84F6-9D95D8E8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386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50" b="0" i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The discrete derivative is nonpositive, so every edit is controlled by a monotone kernel.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e8f6efc834f7d"/>
          <a:stretch xmlns:a="http://schemas.openxmlformats.org/drawingml/2006/main"/>
        </p:blipFill>
        <p:spPr>
          <a:xfrm xmlns:a="http://schemas.openxmlformats.org/drawingml/2006/main">
            <a:off x="6400800" y="2768600"/>
            <a:ext cx="5238750" cy="977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8157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8BFBC17-7A2D-43B9-8788-5A0348AF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1596A73-CA90-4ED6-BFBD-336DF555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low-sum certificate forces a good edit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1577B6BB-E928-4A08-88DB-8D59090E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A19D83D-0E62-4996-9A12-E3FC8721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Fill</a:t>
            </a:r>
          </a:p>
          <a:p xmlns:a="http://schemas.openxmlformats.org/drawingml/2006/main">
            <a:pPr algn="l"/>
            <a:r>
              <a:rPr sz="1250" b="0" i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If the fill kernel at r is nonpositive, the fill edit cannot worsen success.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93770CA9-2EE5-4E5F-8942-9899077C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89D4757-4F51-4FC7-AC56-B2BF4EAA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Remove</a:t>
            </a:r>
          </a:p>
          <a:p xmlns:a="http://schemas.openxmlformats.org/drawingml/2006/main">
            <a:pPr algn="l"/>
            <a:r>
              <a:rPr sz="1250" b="0" i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If the remove kernel at q+1 is nonnegative, the remove edit cannot worsen success.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17979850-DB09-4D2D-B43F-FB1D580B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AE4B4ED5-5649-4D63-A531-71AD9ACA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8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Joint</a:t>
            </a:r>
          </a:p>
          <a:p xmlns:a="http://schemas.openxmlformats.org/drawingml/2006/main">
            <a:pPr algn="l"/>
            <a:r>
              <a:rPr sz="1250" b="0" i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If the first joint bound fails, α &lt; β makes the second bound strictly positive.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A7C3EB61-5546-4014-ACBD-DF746382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A65ED707-D0AD-4CD9-BE16-BB92B60D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Hard sign case</a:t>
            </a:r>
          </a:p>
          <a:p xmlns:a="http://schemas.openxmlformats.org/drawingml/2006/main">
            <a:pPr algn="l"/>
            <a:r>
              <a:rPr sz="1250" b="0" i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Otherwise the two boundary kernels have opposite signs; the certificate compares them.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5D2A81C-0CD4-464A-9EEC-22DBB71C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8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If r + q ≤ n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5247ba8d14cd7"/>
          <a:stretch xmlns:a="http://schemas.openxmlformats.org/drawingml/2006/main"/>
        </p:blipFill>
        <p:spPr>
          <a:xfrm xmlns:a="http://schemas.openxmlformats.org/drawingml/2006/main">
            <a:off x="1957234" y="1200150"/>
            <a:ext cx="5039032" cy="78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777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8D54318-B1E4-4F5F-898B-303DCD88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FD0063E-E01B-41D2-81A6-8E2D68F4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certificate is proved coefficient by coefficient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DE4ECC4E-B1C1-4416-AC99-3BC64505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safe or stolen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1D40C23-D88E-49B7-8B8D-680AFF63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2EEA6C5B-992B-4EDE-A918-C32A425B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safe or leaked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64A81C5-8EB8-4EEE-A10E-71CCF95F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E2787C5-6DAD-4469-B9D9-3F4C91EF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safe or lost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E0639164-AD24-49B4-B23D-B1EC68A3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F33BA8EA-2AB2-4EA5-A41B-7DF853A5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safe only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8E29247F-70FF-4E88-87BC-AA0977B4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81F02731-ECDB-4E72-A0F1-584A0EF2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8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Polynomial reduction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bb5d9848e4fd1"/>
          <a:stretch xmlns:a="http://schemas.openxmlformats.org/drawingml/2006/main"/>
        </p:blipFill>
        <p:spPr>
          <a:xfrm xmlns:a="http://schemas.openxmlformats.org/drawingml/2006/main">
            <a:off x="400050" y="2879008"/>
            <a:ext cx="4000500" cy="490384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92be291ba4822"/>
          <a:stretch xmlns:a="http://schemas.openxmlformats.org/drawingml/2006/main"/>
        </p:blipFill>
        <p:spPr>
          <a:xfrm xmlns:a="http://schemas.openxmlformats.org/drawingml/2006/main">
            <a:off x="400050" y="3642360"/>
            <a:ext cx="4000500" cy="33528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628b406cd4069"/>
          <a:stretch xmlns:a="http://schemas.openxmlformats.org/drawingml/2006/main"/>
        </p:blipFill>
        <p:spPr>
          <a:xfrm xmlns:a="http://schemas.openxmlformats.org/drawingml/2006/main">
            <a:off x="400050" y="4268383"/>
            <a:ext cx="4095750" cy="292908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FAC6D-EC0E-468B-B1F6-3066FE76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3857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200" b="0" i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Fixing the labelled partition turns each coefficient into a difference of toggle counts.</a:t>
            </a:r>
          </a:p>
        </p:txBody>
      </p:sp>
    </p:spTree>
    <p:extLst>
      <p:ext uri="{BB962C8B-B14F-4D97-AF65-F5344CB8AC3E}">
        <p14:creationId xmlns:p14="http://schemas.microsoft.com/office/powerpoint/2010/main" val="3891624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FA847A30-954F-4AE9-8065-628D2517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953EB106-9D28-4845-8203-6D8E422D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Nested-set averaging leaves four cases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3A8073E-6D72-472D-AC37-4685EA73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7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M meets H</a:t>
            </a:r>
          </a:p>
          <a:p xmlns:a="http://schemas.openxmlformats.org/drawingml/2006/main">
            <a:pPr algn="l"/>
            <a:r>
              <a:rPr sz="1150" b="0" i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If M ∩ H ≠ ∅, both negative events are impossible: H is always in O and never in D.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CC1247C-CEBD-473C-B7E1-7FAE1281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7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M meets E and L</a:t>
            </a:r>
          </a:p>
          <a:p xmlns:a="http://schemas.openxmlformats.org/drawingml/2006/main">
            <a:pPr algn="l"/>
            <a:r>
              <a:rPr sz="1150" b="0" i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If M ∩ E ≠ ∅ and M ∩ L ≠ ∅, then O = A is blocked by E and D = B is blocked by L.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74EA8F2-853D-43C7-B880-6D739DE4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7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M lies in T</a:t>
            </a:r>
          </a:p>
          <a:p xmlns:a="http://schemas.openxmlformats.org/drawingml/2006/main">
            <a:pPr algn="l"/>
            <a:r>
              <a:rPr sz="1150" b="0" i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If M ⊆ T, switch each coordinate of M from stolen to safe. This injects negative events into positive ones.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F385140-4CC8-4F38-A5F1-6024834A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7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Two residual types</a:t>
            </a:r>
          </a:p>
          <a:p xmlns:a="http://schemas.openxmlformats.org/drawingml/2006/main">
            <a:pPr algn="l"/>
            <a:r>
              <a:rPr sz="1150" b="0" i="0">
                <a:solidFill>
                  <a:srgbClr val="596273"/>
                </a:solidFill>
                <a:latin typeface="Cambria Math"/>
                <a:ea typeface="Cambria Math"/>
                <a:cs typeface="Cambria Math"/>
              </a:rPr>
              <a:t>M ⊆ T ∪ L with M ∩ L ≠ ∅, or M ⊆ T ∪ E with M ∩ E ≠ ∅.</a:t>
            </a:r>
          </a:p>
        </p:txBody>
      </p:sp>
    </p:spTree>
    <p:extLst>
      <p:ext uri="{BB962C8B-B14F-4D97-AF65-F5344CB8AC3E}">
        <p14:creationId xmlns:p14="http://schemas.microsoft.com/office/powerpoint/2010/main" val="5591197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A38593E-398D-46BD-8AD4-A2B5AC81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B3E0445-2F61-4E08-8BB3-206D179F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residual cases share one injection pattern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0C7A8135-DE33-4FCF-9459-3C57F3C8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L-case</a:t>
            </a:r>
          </a:p>
          <a:p xmlns:a="http://schemas.openxmlformats.org/drawingml/2006/main">
            <a:pPr algn="l"/>
            <a:r>
              <a:rPr sz="1250" b="0" i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Encode a negative object by (K, J, Aₑ, s). Put j′ = j − s.
Record s using a canonical prefix of M ∩ L, then raise K by s.
Because s ≥ 1, the image satisfies the positive threshold.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555A98D8-0F05-47E2-BC11-9EB6907B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E-case</a:t>
            </a:r>
          </a:p>
          <a:p xmlns:a="http://schemas.openxmlformats.org/drawingml/2006/main">
            <a:pPr algn="l"/>
            <a:r>
              <a:rPr sz="1250" b="0" i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Encode by (K, Aₑ, J, s). Put j′ = j + 1 − s.
Extend by a canonical prefix of M ∩ E, then raise K by s.
The recorded prefix makes the map injective.</a:t>
            </a:r>
          </a:p>
        </p:txBody>
      </p:sp>
    </p:spTree>
    <p:extLst>
      <p:ext uri="{BB962C8B-B14F-4D97-AF65-F5344CB8AC3E}">
        <p14:creationId xmlns:p14="http://schemas.microsoft.com/office/powerpoint/2010/main" val="8176760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9896178-4040-4E50-88FE-3E273DCD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3BA161E-1058-46D4-9D59-F3971BAD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Duality converts the high-sum case to low sum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AB2C4B4B-9F09-4E4D-B5F3-E6B86C5C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1312504-2CB0-4810-A890-6457C664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Ranks transform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46AACC16-7A5E-460C-B252-CF0D1B05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70B77381-B204-4C1C-B102-C9B39014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8238D1A-9C21-458D-AC5B-E3CCF107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Edits transform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A2FE696-2598-4692-ADB5-92A60D74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300" b="0" i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Remove ↔ fill.</a:t>
            </a:r>
          </a:p>
          <a:p xmlns:a="http://schemas.openxmlformats.org/drawingml/2006/main">
            <a:pPr algn="l"/>
            <a:r>
              <a:rPr sz="1300" b="0" i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Joint ↔ joint.</a:t>
            </a:r>
          </a:p>
          <a:p xmlns:a="http://schemas.openxmlformats.org/drawingml/2006/main">
            <a:pPr algn="l"/>
            <a:r>
              <a:rPr sz="1300" b="0" i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Apply the low-sum certificate to 𝓕⋆.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ADF97703-7A8B-41FE-9479-66B97C52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354E0-7328-4908-9749-EEDF516E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/>
            <a:r>
              <a:rPr sz="18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When r + q &gt; n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d76b310a74437"/>
          <a:stretch xmlns:a="http://schemas.openxmlformats.org/drawingml/2006/main"/>
        </p:blipFill>
        <p:spPr>
          <a:xfrm xmlns:a="http://schemas.openxmlformats.org/drawingml/2006/main">
            <a:off x="2524125" y="1220308"/>
            <a:ext cx="3429000" cy="378785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a0efce5214ee3"/>
          <a:stretch xmlns:a="http://schemas.openxmlformats.org/drawingml/2006/main"/>
        </p:blipFill>
        <p:spPr>
          <a:xfrm xmlns:a="http://schemas.openxmlformats.org/drawingml/2006/main">
            <a:off x="6191250" y="1222177"/>
            <a:ext cx="4000500" cy="375047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d5d600ce04e0b"/>
          <a:stretch xmlns:a="http://schemas.openxmlformats.org/drawingml/2006/main"/>
        </p:blipFill>
        <p:spPr>
          <a:xfrm xmlns:a="http://schemas.openxmlformats.org/drawingml/2006/main">
            <a:off x="1619250" y="1812131"/>
            <a:ext cx="5095875" cy="509588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0166207e046e5"/>
          <a:stretch xmlns:a="http://schemas.openxmlformats.org/drawingml/2006/main"/>
        </p:blipFill>
        <p:spPr>
          <a:xfrm xmlns:a="http://schemas.openxmlformats.org/drawingml/2006/main">
            <a:off x="7239000" y="1876425"/>
            <a:ext cx="34290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3A60E-C3F5-44E1-B08C-6C11121A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98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50" b="0" i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Success is preserved; leaked and lost probabilities are exchanged.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53fd14a744eb0"/>
          <a:stretch xmlns:a="http://schemas.openxmlformats.org/drawingml/2006/main"/>
        </p:blipFill>
        <p:spPr>
          <a:xfrm xmlns:a="http://schemas.openxmlformats.org/drawingml/2006/main">
            <a:off x="781050" y="4879181"/>
            <a:ext cx="3714750" cy="433388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29ca9600f4bb5"/>
          <a:stretch xmlns:a="http://schemas.openxmlformats.org/drawingml/2006/main"/>
        </p:blipFill>
        <p:spPr>
          <a:xfrm xmlns:a="http://schemas.openxmlformats.org/drawingml/2006/main">
            <a:off x="723900" y="5413375"/>
            <a:ext cx="4000500" cy="355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4651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B891EC2F-9169-4B70-B245-FF83ED5F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 most one
incomplete layer remains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F9CF655-D799-4DD9-B692-B01490B4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edit removes at least one incomplete layer.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edit creates a new incomplete layer.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Starting from an optimum preserves the optimum value.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53BA14A-EC9A-4461-8EDE-C61765E7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RESULT</a:t>
            </a:r>
          </a:p>
        </p:txBody>
      </p:sp>
    </p:spTree>
    <p:extLst>
      <p:ext uri="{BB962C8B-B14F-4D97-AF65-F5344CB8AC3E}">
        <p14:creationId xmlns:p14="http://schemas.microsoft.com/office/powerpoint/2010/main" val="6886005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2026-08-05T07:03:13.5960000Z</dcterms:created>
  <dcterms:modified xsi:type="dcterms:W3CDTF">2026-08-05T07:03:13.5960000Z</dcterms:modified>
</coreProperties>
</file>